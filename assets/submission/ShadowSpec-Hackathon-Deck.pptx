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53cf7f676a446f" /><Relationship Type="http://schemas.openxmlformats.org/officeDocument/2006/relationships/extended-properties" Target="/docProps/app.xml" Id="R742c8db6e166497d" /><Relationship Type="http://schemas.openxmlformats.org/officeDocument/2006/relationships/officeDocument" Target="/ppt/presentation.xml" Id="Radb818ac05e444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a6d82514f34271"/>
  </p:sldMasterIdLst>
  <p:notesMasterIdLst>
    <p:notesMasterId xmlns:r="http://schemas.openxmlformats.org/officeDocument/2006/relationships" r:id="Ra5d5931abe244221"/>
  </p:notesMasterIdLst>
  <p:sldIdLst>
    <p:sldId xmlns:r="http://schemas.openxmlformats.org/officeDocument/2006/relationships" id="256" r:id="R618b87ba53494615"/>
    <p:sldId xmlns:r="http://schemas.openxmlformats.org/officeDocument/2006/relationships" id="257" r:id="R2c42421e108a4e46"/>
    <p:sldId xmlns:r="http://schemas.openxmlformats.org/officeDocument/2006/relationships" id="258" r:id="R9bc968064cf84447"/>
    <p:sldId xmlns:r="http://schemas.openxmlformats.org/officeDocument/2006/relationships" id="259" r:id="R605c8e0f66df44ad"/>
    <p:sldId xmlns:r="http://schemas.openxmlformats.org/officeDocument/2006/relationships" id="260" r:id="Ra6b73a5df0a84fe5"/>
    <p:sldId xmlns:r="http://schemas.openxmlformats.org/officeDocument/2006/relationships" id="261" r:id="R9f00c3dd83214e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3777c81b794031" /><Relationship Type="http://schemas.openxmlformats.org/officeDocument/2006/relationships/slideMaster" Target="/ppt/slideMasters/slideMaster1.xml" Id="Rafa6d82514f34271" /><Relationship Type="http://schemas.openxmlformats.org/officeDocument/2006/relationships/notesMaster" Target="/ppt/notesMasters/notesMaster1.xml" Id="Ra5d5931abe244221" /><Relationship Type="http://schemas.openxmlformats.org/officeDocument/2006/relationships/presProps" Target="/ppt/presProps.xml" Id="R72bfe644b22f4a77" /><Relationship Type="http://schemas.openxmlformats.org/officeDocument/2006/relationships/tableStyles" Target="/ppt/tableStyles.xml" Id="R93053d352ff24578" /><Relationship Type="http://schemas.openxmlformats.org/officeDocument/2006/relationships/slide" Target="/ppt/slides/slide1.xml" Id="R618b87ba53494615" /><Relationship Type="http://schemas.openxmlformats.org/officeDocument/2006/relationships/slide" Target="/ppt/slides/slide2.xml" Id="R2c42421e108a4e46" /><Relationship Type="http://schemas.openxmlformats.org/officeDocument/2006/relationships/slide" Target="/ppt/slides/slide3.xml" Id="R9bc968064cf84447" /><Relationship Type="http://schemas.openxmlformats.org/officeDocument/2006/relationships/slide" Target="/ppt/slides/slide4.xml" Id="R605c8e0f66df44ad" /><Relationship Type="http://schemas.openxmlformats.org/officeDocument/2006/relationships/slide" Target="/ppt/slides/slide5.xml" Id="Ra6b73a5df0a84fe5" /><Relationship Type="http://schemas.openxmlformats.org/officeDocument/2006/relationships/slide" Target="/ppt/slides/slide6.xml" Id="R9f00c3dd83214e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a9291604a24d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ed5365a32f4065" /><Relationship Type="http://schemas.openxmlformats.org/officeDocument/2006/relationships/notesMaster" Target="/ppt/notesMasters/notesMaster1.xml" Id="Rd490b3cedc2c4e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d3a4b77975419c" /><Relationship Type="http://schemas.openxmlformats.org/officeDocument/2006/relationships/notesMaster" Target="/ppt/notesMasters/notesMaster1.xml" Id="Rbe971dfd236a47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cd9c8e2792488d" /><Relationship Type="http://schemas.openxmlformats.org/officeDocument/2006/relationships/notesMaster" Target="/ppt/notesMasters/notesMaster1.xml" Id="R74fb320a10ab47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c8734a6c3a4e26" /><Relationship Type="http://schemas.openxmlformats.org/officeDocument/2006/relationships/notesMaster" Target="/ppt/notesMasters/notesMaster1.xml" Id="Rc55a1fca93644e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1de3fd9fb04663" /><Relationship Type="http://schemas.openxmlformats.org/officeDocument/2006/relationships/notesMaster" Target="/ppt/notesMasters/notesMaster1.xml" Id="R2565fc96bbc94f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c0e330bae24b45" /><Relationship Type="http://schemas.openxmlformats.org/officeDocument/2006/relationships/notesMaster" Target="/ppt/notesMasters/notesMaster1.xml" Id="Rc2b22cda102949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ShadowSpec project brief and verified local implementation. No external factual claims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Bob role workflow is documented in AGENTS.md and docs/architecture/bob-workflow.md. Prior-event guidance source: https://watsonx-hackathons-2026.s3.us.cloud-object-storage.appdomain.cloud/Lablab-IBM-Bob-hackathon-guide-May-2026.pdf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23b332894e48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014153fc4c4968" /><Relationship Type="http://schemas.openxmlformats.org/officeDocument/2006/relationships/slideLayout" Target="/ppt/slideLayouts/slideLayout1.xml" Id="R68367ae28bc44d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367ae28bc44d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1cca9ce9a469c" /><Relationship Type="http://schemas.openxmlformats.org/officeDocument/2006/relationships/notesSlide" Target="/ppt/notesSlides/notesSlide1.xml" Id="Re49776d73ebe47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842dd120f4e95" /><Relationship Type="http://schemas.openxmlformats.org/officeDocument/2006/relationships/notesSlide" Target="/ppt/notesSlides/notesSlide2.xml" Id="Ra1aa0974f2184b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c886b04ac4951" /><Relationship Type="http://schemas.openxmlformats.org/officeDocument/2006/relationships/notesSlide" Target="/ppt/notesSlides/notesSlide3.xml" Id="R4eebb01cb6a444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31768d5594f5a" /><Relationship Type="http://schemas.openxmlformats.org/officeDocument/2006/relationships/notesSlide" Target="/ppt/notesSlides/notesSlide4.xml" Id="R2d147eb9b57b4f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890942fe44608" /><Relationship Type="http://schemas.openxmlformats.org/officeDocument/2006/relationships/notesSlide" Target="/ppt/notesSlides/notesSlide5.xml" Id="R9ee89dfa6cae45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082622dc2408e" /><Relationship Type="http://schemas.openxmlformats.org/officeDocument/2006/relationships/notesSlide" Target="/ppt/notesSlides/notesSlide6.xml" Id="R5ff1545d0b8e46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CE3C7-2A26-4C6B-9E96-80340CF3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rPr>
              <a:t>IBM BOB 2.0 HACKATHON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4F41A-05B0-4A47-8FBD-DF1351BD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Legacy changes need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proof, not confidence.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0350F-D7CA-4A6D-97AE-FB9890F0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800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rPr>
              <a:t>ShadowSpec freezes observed behavior, rejects an over-broad patch, and exports the review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7BD84-3F25-401A-B8A2-85036E2B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One audited Python service. Zero API keys. One falsifiable maintenance claim.</a:t>
            </a:r>
          </a:p>
        </p:txBody>
      </p:sp>
    </p:spTree>
    <p:extLst>
      <p:ext uri="{BB962C8B-B14F-4D97-AF65-F5344CB8AC3E}">
        <p14:creationId xmlns:p14="http://schemas.microsoft.com/office/powerpoint/2010/main" val="7264778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B3698-DEBB-4C5B-A44A-CC33A255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rPr>
              <a:t>SHADOWSPEC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2CCC2-8FD8-444B-BF05-E1E5F20E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The maintenance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1CBF2-296B-4A52-A580-09F70D4A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B0EA7-60EF-447C-AF53-481C8385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5BDA8-BB0C-46BA-8441-07B2C88F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rPr>
              <a:t>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80851-DD83-4D55-83EF-C43A7BA6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514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Accept surrounding whitespace in SAVE10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E8177-41DD-43F5-AF39-2604EC82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rPr>
              <a:t>PRESERVE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7943F-700C-46D0-AF44-A0503573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Case sensitivity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Pricing and errors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SQLite audit write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746E1-0D77-416F-86BB-EE612A82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26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Passing the new example alone proves nothing about preserved behavior.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5611A-EB60-4D7F-9CF3-811A005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911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rPr>
              <a:t>Characterization and acceptance remain separate checks.</a:t>
            </a:r>
          </a:p>
        </p:txBody>
      </p:sp>
    </p:spTree>
    <p:extLst>
      <p:ext uri="{BB962C8B-B14F-4D97-AF65-F5344CB8AC3E}">
        <p14:creationId xmlns:p14="http://schemas.microsoft.com/office/powerpoint/2010/main" val="14392354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E8596-00C4-4228-ADC6-B77C7393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rPr>
              <a:t>SHADOWSPEC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CEC90-E3FD-479F-99F8-4AD8BAC3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The plausible patch fails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6D9A7-E893-47BF-AB8B-CEE07BAD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3820D-A53E-4FD6-95BD-726A6807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C2AE6-1E4E-4C3E-92FF-3C741B89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2161B"/>
          </a:solidFill>
          <a:ln xmlns:a="http://schemas.openxmlformats.org/drawingml/2006/main" w="14288">
            <a:solidFill>
              <a:srgbClr val="2B303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B0E85-E733-41BC-98DE-ED2AE1DD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rPr>
              <a:t>BAD CANDIDATE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09125-3E1D-40E5-8302-E56643A6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code.strip().upper() == "SAVE10"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6ED81-9204-4490-BD06-BE0B3E7E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rPr>
              <a:t>Whitespace passes. Lowercase save10 now receives a discount.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2AB8D-D9FC-4FE8-B83E-4F23CD31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2161B"/>
          </a:solidFill>
          <a:ln xmlns:a="http://schemas.openxmlformats.org/drawingml/2006/main" w="14288">
            <a:solidFill>
              <a:srgbClr val="FF6B6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32D56-FFA6-4151-9777-720D2F92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rPr>
              <a:t>REJECTED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BC10B-99B0-4495-8F60-005D8809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Characterization  FAIL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Acceptance         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DFAA6-ADAB-418B-AE02-0C189842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rPr>
              <a:t>Failed preserved check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rPr>
              <a:t>lowercase code remains invalid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499E3-7B81-40E1-91F6-6569405C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The failure is the demo’s central proof.</a:t>
            </a:r>
          </a:p>
        </p:txBody>
      </p:sp>
    </p:spTree>
    <p:extLst>
      <p:ext uri="{BB962C8B-B14F-4D97-AF65-F5344CB8AC3E}">
        <p14:creationId xmlns:p14="http://schemas.microsoft.com/office/powerpoint/2010/main" val="386467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5213A-E455-4499-8E81-275678DD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rPr>
              <a:t>SHADOWSPEC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BF744-D3CF-46B8-956C-78A4371D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The narrow patch passes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2AE3F-1570-471F-B75E-FDEDCD50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8C2FA-B901-4E40-8903-DE752A3F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6132F-11FB-47F5-A3A5-D07F776E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2161B"/>
          </a:solidFill>
          <a:ln xmlns:a="http://schemas.openxmlformats.org/drawingml/2006/main" w="14288">
            <a:solidFill>
              <a:srgbClr val="2B303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6A98A-C20D-42D4-ACB3-88229664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rPr>
              <a:t>NARROW CANDIDATE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B366D-ACA4-4DC1-A2AF-4D297B70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code.strip() == "SAVE10"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AF663-90BD-4DD2-871F-A43EEE09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rPr>
              <a:t>Whitespace passes. Case sensitivity and the named side effect stay intact.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0C879-2D88-4DFD-8054-2A8331D8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2161B"/>
          </a:solidFill>
          <a:ln xmlns:a="http://schemas.openxmlformats.org/drawingml/2006/main" w="14288">
            <a:solidFill>
              <a:srgbClr val="C7FF4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301F6-3D5C-4371-B642-8C2F78AA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rPr>
              <a:t>ACCEPTED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C9404-4D42-4CF2-8B4D-BA954FBF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Characterization  PASS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Acceptance         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80609-B698-459A-80BC-90736D28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rPr>
              <a:t>Scope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rPr>
              <a:t>Named fixtures and observed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FA694-D27B-40E1-9675-D175C7B8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Accepted never means universally safe.</a:t>
            </a:r>
          </a:p>
        </p:txBody>
      </p:sp>
    </p:spTree>
    <p:extLst>
      <p:ext uri="{BB962C8B-B14F-4D97-AF65-F5344CB8AC3E}">
        <p14:creationId xmlns:p14="http://schemas.microsoft.com/office/powerpoint/2010/main" val="8900709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A24FC0-B759-4C01-AC30-806B5C24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rPr>
              <a:t>SHADOWSPEC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73349-E442-4BDC-BDC9-9C4DC9AD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Evidence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E4C87-78EA-411A-81C4-FB540171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6DB4C-1B67-431D-B7DB-32429242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D4517-C338-49C0-B60B-4D0EFDA9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2161B"/>
          </a:solidFill>
          <a:ln xmlns:a="http://schemas.openxmlformats.org/drawingml/2006/main" w="14288">
            <a:solidFill>
              <a:srgbClr val="2B303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70981-0782-41B6-A1D6-FC4E1A9F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42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Audited fixture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3A23B-AEAA-4EF6-BD30-FF8F12DC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695575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A3A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74AA7-503A-43F0-906A-A65612DD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2161B"/>
          </a:solidFill>
          <a:ln xmlns:a="http://schemas.openxmlformats.org/drawingml/2006/main" w="14288">
            <a:solidFill>
              <a:srgbClr val="2B303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9E02F-69E4-400A-A9F2-3EF6B068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33625"/>
            <a:ext cx="142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AST 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C0FDE-D68D-4776-B1FC-3A075840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5575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A3A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C864F-6EE6-4224-90BB-6BAAED31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19075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2161B"/>
          </a:solidFill>
          <a:ln xmlns:a="http://schemas.openxmlformats.org/drawingml/2006/main" w="14288">
            <a:solidFill>
              <a:srgbClr val="2B303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FFF59-DD0C-4F32-BF32-AF92B83C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142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Behavior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66E8A-E7CB-4D2F-83A1-459BF46C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95575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A3A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62211-0CD2-49FD-9736-2FD66099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2161B"/>
          </a:solidFill>
          <a:ln xmlns:a="http://schemas.openxmlformats.org/drawingml/2006/main" w="14288">
            <a:solidFill>
              <a:srgbClr val="2B303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C86F0-8A0D-42E3-9574-D9F79A54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33625"/>
            <a:ext cx="142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Candidate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3A063-A602-4583-8FC9-60ADB899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95575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A3A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D2C0A-CA1F-4395-AC97-1B235F5E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9075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2161B"/>
          </a:solidFill>
          <a:ln xmlns:a="http://schemas.openxmlformats.org/drawingml/2006/main" w="14288">
            <a:solidFill>
              <a:srgbClr val="C7FF4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EC24C-FEFE-4096-B84A-BBCC0A5C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33625"/>
            <a:ext cx="142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rPr>
              <a:t>Evidence pack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11D90F-0061-46EE-8046-F699DDC8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Static analysis never imports repository code.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D6FBF-1A6D-400D-9BAB-11F6B5D3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4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Hosted execution stays inside three audited variants.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22501-F6CB-4699-B761-4E7D6CEB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19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rPr>
              <a:t>Output: source hash, changed files, intended delta, preserved behavior, risks, checklist, rollback notes, and raw results.</a:t>
            </a:r>
          </a:p>
        </p:txBody>
      </p:sp>
    </p:spTree>
    <p:extLst>
      <p:ext uri="{BB962C8B-B14F-4D97-AF65-F5344CB8AC3E}">
        <p14:creationId xmlns:p14="http://schemas.microsoft.com/office/powerpoint/2010/main" val="128758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6D498B-D7F7-487B-B302-55B2C129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rPr>
              <a:t>SHADOWSPEC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6CD57-DF75-414C-86F5-D7B06D57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Workflow guidance for IBM Bob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037C5-0002-4DD7-BE1A-9C150424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39816-8D2E-4E6D-B04E-21AB1448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33F1F-145A-4F6F-85BA-7463E0F8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2161B"/>
          </a:solidFill>
          <a:ln xmlns:a="http://schemas.openxmlformats.org/drawingml/2006/main" w="14288">
            <a:solidFill>
              <a:srgbClr val="2B303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2DA8F-87C7-44EE-8E8A-D2DB816C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2882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Mapper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0974A-88E5-4E87-A64A-5C8CC720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2669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A3A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C98FF-5F4B-4FD7-AD58-F6F4307D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57375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2161B"/>
          </a:solidFill>
          <a:ln xmlns:a="http://schemas.openxmlformats.org/drawingml/2006/main" w="14288">
            <a:solidFill>
              <a:srgbClr val="2B303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33ADB-1219-4118-BD0D-4E288E0D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2882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Characterization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085BF-597A-4159-ACAE-EF7962DC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A3A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B5201-EF33-49A4-9173-CFBF9486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57375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2161B"/>
          </a:solidFill>
          <a:ln xmlns:a="http://schemas.openxmlformats.org/drawingml/2006/main" w="14288">
            <a:solidFill>
              <a:srgbClr val="2B303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0E2D6-75A4-451F-A5BF-D9160115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2882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Implementer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B8F16-E88F-410E-9295-A5453FCF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669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A3A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2FF767-AD65-4823-B34B-53119C69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57375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2161B"/>
          </a:solidFill>
          <a:ln xmlns:a="http://schemas.openxmlformats.org/drawingml/2006/main" w="14288">
            <a:solidFill>
              <a:srgbClr val="FF6B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031A4-D1EC-47D9-B779-2C7E5981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2882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rPr>
              <a:t>Critic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3682F-459C-4C4C-A276-1A4E9A14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669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A3A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6E19D-355E-447B-8EA4-621AE201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57375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2161B"/>
          </a:solidFill>
          <a:ln xmlns:a="http://schemas.openxmlformats.org/drawingml/2006/main" w="14288">
            <a:solidFill>
              <a:srgbClr val="2B303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16627-6FDC-4B95-8ED0-2AEBD2A2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2882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Release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A104D-869B-44A4-81CF-F9E61817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516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4F1E8"/>
                </a:solidFill>
                <a:latin typeface="Bitstream Charter"/>
                <a:ea typeface="Bitstream Charter"/>
                <a:cs typeface="Bitstream Charter"/>
              </a:rPr>
              <a:t>These Markdown roles describe a five-step handoff for a future IBM Bob IDE session.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F218C3-162B-4ACB-BDDF-BF6A6B7F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9DA3AD"/>
                </a:solidFill>
                <a:latin typeface="Bitstream Charter"/>
                <a:ea typeface="Bitstream Charter"/>
                <a:cs typeface="Bitstream Charter"/>
              </a:rPr>
              <a:t>Current evidence comes from the deterministic zero-key demo. No Bob session export is included.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CE395-F1E6-4C48-A1CB-DEB1C255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81625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C7FF4A"/>
                </a:solidFill>
                <a:latin typeface="Bitstream Charter"/>
                <a:ea typeface="Bitstream Charter"/>
                <a:cs typeface="Bitstream Charter"/>
              </a:rPr>
              <a:t>Reject the broad patch. Accept the proof.</a:t>
            </a:r>
          </a:p>
        </p:txBody>
      </p:sp>
    </p:spTree>
    <p:extLst>
      <p:ext uri="{BB962C8B-B14F-4D97-AF65-F5344CB8AC3E}">
        <p14:creationId xmlns:p14="http://schemas.microsoft.com/office/powerpoint/2010/main" val="1808067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2026-09-21T11:50:30.7750000Z</dcterms:created>
  <dcterms:modified xsi:type="dcterms:W3CDTF">2026-09-21T11:50:30.7750000Z</dcterms:modified>
</coreProperties>
</file>