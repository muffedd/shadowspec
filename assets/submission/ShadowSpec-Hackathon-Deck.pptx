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6303bd422be433c" /><Relationship Type="http://schemas.openxmlformats.org/officeDocument/2006/relationships/extended-properties" Target="/docProps/app.xml" Id="R3a0b010e97384b12" /><Relationship Type="http://schemas.openxmlformats.org/officeDocument/2006/relationships/officeDocument" Target="/ppt/presentation.xml" Id="Rc407e6140c0240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de838c4a2b47f9"/>
  </p:sldMasterIdLst>
  <p:notesMasterIdLst>
    <p:notesMasterId xmlns:r="http://schemas.openxmlformats.org/officeDocument/2006/relationships" r:id="R47b2c721bb464f62"/>
  </p:notesMasterIdLst>
  <p:sldIdLst>
    <p:sldId xmlns:r="http://schemas.openxmlformats.org/officeDocument/2006/relationships" id="256" r:id="Rc3b9042a3af04d6c"/>
    <p:sldId xmlns:r="http://schemas.openxmlformats.org/officeDocument/2006/relationships" id="257" r:id="Rae5e1c1bbbac4e8f"/>
    <p:sldId xmlns:r="http://schemas.openxmlformats.org/officeDocument/2006/relationships" id="258" r:id="Rea9b15cad0ed402a"/>
    <p:sldId xmlns:r="http://schemas.openxmlformats.org/officeDocument/2006/relationships" id="259" r:id="R4edfe0159bb74c93"/>
    <p:sldId xmlns:r="http://schemas.openxmlformats.org/officeDocument/2006/relationships" id="260" r:id="R27a14924b4bb4693"/>
    <p:sldId xmlns:r="http://schemas.openxmlformats.org/officeDocument/2006/relationships" id="261" r:id="Rd4c92383c4654f3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4a01c7b577412b" /><Relationship Type="http://schemas.openxmlformats.org/officeDocument/2006/relationships/slideMaster" Target="/ppt/slideMasters/slideMaster1.xml" Id="Rf7de838c4a2b47f9" /><Relationship Type="http://schemas.openxmlformats.org/officeDocument/2006/relationships/notesMaster" Target="/ppt/notesMasters/notesMaster1.xml" Id="R47b2c721bb464f62" /><Relationship Type="http://schemas.openxmlformats.org/officeDocument/2006/relationships/presProps" Target="/ppt/presProps.xml" Id="R43f05fffebf74c7a" /><Relationship Type="http://schemas.openxmlformats.org/officeDocument/2006/relationships/tableStyles" Target="/ppt/tableStyles.xml" Id="R1139c7079ebf4b57" /><Relationship Type="http://schemas.openxmlformats.org/officeDocument/2006/relationships/slide" Target="/ppt/slides/slide1.xml" Id="Rc3b9042a3af04d6c" /><Relationship Type="http://schemas.openxmlformats.org/officeDocument/2006/relationships/slide" Target="/ppt/slides/slide2.xml" Id="Rae5e1c1bbbac4e8f" /><Relationship Type="http://schemas.openxmlformats.org/officeDocument/2006/relationships/slide" Target="/ppt/slides/slide3.xml" Id="Rea9b15cad0ed402a" /><Relationship Type="http://schemas.openxmlformats.org/officeDocument/2006/relationships/slide" Target="/ppt/slides/slide4.xml" Id="R4edfe0159bb74c93" /><Relationship Type="http://schemas.openxmlformats.org/officeDocument/2006/relationships/slide" Target="/ppt/slides/slide5.xml" Id="R27a14924b4bb4693" /><Relationship Type="http://schemas.openxmlformats.org/officeDocument/2006/relationships/slide" Target="/ppt/slides/slide6.xml" Id="Rd4c92383c4654f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c3226c66ec4de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e25d7d145f4e65" /><Relationship Type="http://schemas.openxmlformats.org/officeDocument/2006/relationships/notesMaster" Target="/ppt/notesMasters/notesMaster1.xml" Id="R95fa2482c9d944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bd805bdc28438b" /><Relationship Type="http://schemas.openxmlformats.org/officeDocument/2006/relationships/notesMaster" Target="/ppt/notesMasters/notesMaster1.xml" Id="R25ac3ad645454d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3cda4d153f84060" /><Relationship Type="http://schemas.openxmlformats.org/officeDocument/2006/relationships/notesMaster" Target="/ppt/notesMasters/notesMaster1.xml" Id="Rfa59f683ea51441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cf5a834d8d4329" /><Relationship Type="http://schemas.openxmlformats.org/officeDocument/2006/relationships/notesMaster" Target="/ppt/notesMasters/notesMaster1.xml" Id="R6a669b45136144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f29c91b3c7d43d8" /><Relationship Type="http://schemas.openxmlformats.org/officeDocument/2006/relationships/notesMaster" Target="/ppt/notesMasters/notesMaster1.xml" Id="R36ef97d72dbd47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c2bd4658e054cdd" /><Relationship Type="http://schemas.openxmlformats.org/officeDocument/2006/relationships/notesMaster" Target="/ppt/notesMasters/notesMaster1.xml" Id="Rf7684ae4a4824e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ShadowSpec project brief and verified local implementation. No external factual claims on this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IBM Bob role workflow is documented in AGENTS.md and docs/architecture/bob-workflow.md. Prior-event guidance source: https://watsonx-hackathons-2026.s3.us.cloud-object-storage.appdomain.cloud/Lablab-IBM-Bob-hackathon-guide-May-2026.pdf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4a4226a1df46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59ffa7ff8f474a" /><Relationship Type="http://schemas.openxmlformats.org/officeDocument/2006/relationships/slideLayout" Target="/ppt/slideLayouts/slideLayout1.xml" Id="Rd29877f3460a41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9877f3460a41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1781c22a6c44ac" /><Relationship Type="http://schemas.openxmlformats.org/officeDocument/2006/relationships/notesSlide" Target="/ppt/notesSlides/notesSlide1.xml" Id="R200de235f84045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ab956a7d24e4a" /><Relationship Type="http://schemas.openxmlformats.org/officeDocument/2006/relationships/notesSlide" Target="/ppt/notesSlides/notesSlide2.xml" Id="R45ab8b6d05f24f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45e7732d794d1d" /><Relationship Type="http://schemas.openxmlformats.org/officeDocument/2006/relationships/notesSlide" Target="/ppt/notesSlides/notesSlide3.xml" Id="Ra2aad5d9077c4a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e7a19d97a34d83" /><Relationship Type="http://schemas.openxmlformats.org/officeDocument/2006/relationships/notesSlide" Target="/ppt/notesSlides/notesSlide4.xml" Id="Rdf29de563e3045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4404abf443458a" /><Relationship Type="http://schemas.openxmlformats.org/officeDocument/2006/relationships/notesSlide" Target="/ppt/notesSlides/notesSlide5.xml" Id="R217741475d48451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c8b66015b445dc" /><Relationship Type="http://schemas.openxmlformats.org/officeDocument/2006/relationships/notesSlide" Target="/ppt/notesSlides/notesSlide6.xml" Id="R07f906c143c74a2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D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ECE3C7-2A26-4C6B-9E96-80340CF3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rPr>
              <a:t>IBM BOB 2.0 HACKATHON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34F41A-05B0-4A47-8FBD-DF1351BD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990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40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Legacy changes need</a:t>
            </a:r>
          </a:p>
          <a:p xmlns:a="http://schemas.openxmlformats.org/drawingml/2006/main">
            <a:pPr algn="l">
              <a:defRPr sz="40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40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proof, not confidence.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60350F-D7CA-4A6D-97AE-FB9890F0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24250"/>
            <a:ext cx="8001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rPr>
              <a:t>ShadowSpec freezes observed behavior, rejects an over-broad patch, and exports the review evidence.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97BD84-3F25-401A-B8A2-85036E2B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29250"/>
            <a:ext cx="904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One audited Python service. Zero API keys. One falsifiable maintenance claim.</a:t>
            </a:r>
          </a:p>
        </p:txBody>
      </p:sp>
    </p:spTree>
    <p:extLst>
      <p:ext uri="{BB962C8B-B14F-4D97-AF65-F5344CB8AC3E}">
        <p14:creationId xmlns:p14="http://schemas.microsoft.com/office/powerpoint/2010/main" val="7264778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D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B3698-DEBB-4C5B-A44A-CC33A255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rPr>
              <a:t>SHADOWSPEC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2CCC2-8FD8-444B-BF05-E1E5F20E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38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The maintenance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1CBF2-296B-4A52-A580-09F70D4A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038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0B0EA7-60EF-447C-AF53-481C8385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5BDA8-BB0C-46BA-8441-07B2C88F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192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rPr>
              <a:t>REQUEST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880851-DD83-4D55-83EF-C43A7BA6F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52625"/>
            <a:ext cx="5143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Accept surrounding whitespace in SAVE10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DE8177-41DD-43F5-AF39-2604EC82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192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rPr>
              <a:t>PRESERVE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A7943F-700C-46D0-AF44-A0503573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52625"/>
            <a:ext cx="4095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Case sensitivity</a:t>
            </a:r>
          </a:p>
          <a:p xmlns:a="http://schemas.openxmlformats.org/drawingml/2006/main">
            <a:pPr algn="l">
              <a:defRPr sz="187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Pricing and errors</a:t>
            </a:r>
          </a:p>
          <a:p xmlns:a="http://schemas.openxmlformats.org/drawingml/2006/main">
            <a:pPr algn="l">
              <a:defRPr sz="187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SQLite audit write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1746E1-0D77-416F-86BB-EE612A82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26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32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Passing the new example alone proves nothing about preserved behavior.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15611A-EB60-4D7F-9CF3-811A0050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91125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rPr>
              <a:t>Characterization and acceptance remain separate checks.</a:t>
            </a:r>
          </a:p>
        </p:txBody>
      </p:sp>
    </p:spTree>
    <p:extLst>
      <p:ext uri="{BB962C8B-B14F-4D97-AF65-F5344CB8AC3E}">
        <p14:creationId xmlns:p14="http://schemas.microsoft.com/office/powerpoint/2010/main" val="14392354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D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AE8596-00C4-4228-ADC6-B77C7393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rPr>
              <a:t>SHADOWSPEC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8CEC90-E3FD-479F-99F8-4AD8BAC3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38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The plausible patch fails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6D9A7-E893-47BF-AB8B-CEE07BAD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038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23820D-A53E-4FD6-95BD-726A6807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C2AE6-1E4E-4C3E-92FF-3C741B89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71625"/>
            <a:ext cx="476250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12161B"/>
          </a:solidFill>
          <a:ln xmlns:a="http://schemas.openxmlformats.org/drawingml/2006/main" w="14288">
            <a:solidFill>
              <a:srgbClr val="2B303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0B0E85-E733-41BC-98DE-ED2AE1DD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09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6B6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FF6B6B"/>
                </a:solidFill>
                <a:latin typeface="Bitstream Charter"/>
                <a:ea typeface="Bitstream Charter"/>
                <a:cs typeface="Bitstream Charter"/>
              </a:rPr>
              <a:t>BAD 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609125-3E1D-40E5-8302-E56643A6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code.strip().upper() == "SAVE10"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06ED81-9204-4490-BD06-BE0B3E7E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381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rPr>
              <a:t>Whitespace passes. Lowercase save10 now receives a discount.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62AB8D-D9FC-4FE8-B83E-4F23CD31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71625"/>
            <a:ext cx="476250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12161B"/>
          </a:solidFill>
          <a:ln xmlns:a="http://schemas.openxmlformats.org/drawingml/2006/main" w="14288">
            <a:solidFill>
              <a:srgbClr val="FF6B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232D56-FFA6-4151-9777-720D2F92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6B6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F6B6B"/>
                </a:solidFill>
                <a:latin typeface="Bitstream Charter"/>
                <a:ea typeface="Bitstream Charter"/>
                <a:cs typeface="Bitstream Charter"/>
              </a:rPr>
              <a:t>REJECTED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1BC10B-99B0-4495-8F60-005D8809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14625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Characterization  FAIL</a:t>
            </a:r>
          </a:p>
          <a:p xmlns:a="http://schemas.openxmlformats.org/drawingml/2006/main">
            <a:pPr algn="l">
              <a:defRPr sz="172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Acceptance          PASS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2DFAA6-ADAB-418B-AE02-0C189842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371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rPr>
              <a:t>Failed preserved check</a:t>
            </a:r>
          </a:p>
          <a:p xmlns:a="http://schemas.openxmlformats.org/drawingml/2006/main">
            <a:pPr algn="l">
              <a:defRPr sz="1350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rPr>
              <a:t>lowercase code remains invalid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3499E3-7B81-40E1-91F6-6569405C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86375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The failure is the demo’s central proof.</a:t>
            </a:r>
          </a:p>
        </p:txBody>
      </p:sp>
    </p:spTree>
    <p:extLst>
      <p:ext uri="{BB962C8B-B14F-4D97-AF65-F5344CB8AC3E}">
        <p14:creationId xmlns:p14="http://schemas.microsoft.com/office/powerpoint/2010/main" val="386467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D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A5213A-E455-4499-8E81-275678DD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rPr>
              <a:t>SHADOWSPEC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EBF744-D3CF-46B8-956C-78A4371D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38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The narrow patch passes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A2AE3F-1570-471F-B75E-FDEDCD509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038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48C2FA-B901-4E40-8903-DE752A3F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6132F-11FB-47F5-A3A5-D07F776E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71625"/>
            <a:ext cx="476250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12161B"/>
          </a:solidFill>
          <a:ln xmlns:a="http://schemas.openxmlformats.org/drawingml/2006/main" w="14288">
            <a:solidFill>
              <a:srgbClr val="2B303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6A98A-C20D-42D4-ACB3-88229664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09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rPr>
              <a:t>NARROW 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FB366D-ACA4-4DC1-A2AF-4D297B70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code.strip() == "SAVE10"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4AF663-90BD-4DD2-871F-A43EEE09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381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rPr>
              <a:t>Whitespace passes. Case sensitivity and the named side effect stay intact.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0C879-2D88-4DFD-8054-2A8331D8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71625"/>
            <a:ext cx="476250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12161B"/>
          </a:solidFill>
          <a:ln xmlns:a="http://schemas.openxmlformats.org/drawingml/2006/main" w="14288">
            <a:solidFill>
              <a:srgbClr val="C7FF4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A301F6-3D5C-4371-B642-8C2F78AA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361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rPr>
              <a:t>ACCEPTED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5C9404-4D42-4CF2-8B4D-BA954FBF9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14625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Characterization  PASS</a:t>
            </a:r>
          </a:p>
          <a:p xmlns:a="http://schemas.openxmlformats.org/drawingml/2006/main">
            <a:pPr algn="l">
              <a:defRPr sz="172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Acceptance          PASS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A80609-B698-459A-80BC-90736D28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371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rPr>
              <a:t>Scope</a:t>
            </a:r>
          </a:p>
          <a:p xmlns:a="http://schemas.openxmlformats.org/drawingml/2006/main">
            <a:pPr algn="l">
              <a:defRPr sz="1350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rPr>
              <a:t>Named fixtures and observed behavior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2FA694-D27B-40E1-9675-D175C7B8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86375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Accepted never means universally safe.</a:t>
            </a:r>
          </a:p>
        </p:txBody>
      </p:sp>
    </p:spTree>
    <p:extLst>
      <p:ext uri="{BB962C8B-B14F-4D97-AF65-F5344CB8AC3E}">
        <p14:creationId xmlns:p14="http://schemas.microsoft.com/office/powerpoint/2010/main" val="8900709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D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A24FC0-B759-4C01-AC30-806B5C24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rPr>
              <a:t>SHADOWSPEC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673349-E442-4BDC-BDC9-9C4DC9AD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38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Evidence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AE4C87-78EA-411A-81C4-FB540171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038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56DB4C-1B67-431D-B7DB-32429242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BD4517-C338-49C0-B60B-4D0EFDA9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90750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2161B"/>
          </a:solidFill>
          <a:ln xmlns:a="http://schemas.openxmlformats.org/drawingml/2006/main" w="14288">
            <a:solidFill>
              <a:srgbClr val="2B303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E70981-0782-41B6-A1D6-FC4E1A9F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142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Audited fixture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A3A23B-AEAA-4EF6-BD30-FF8F12DC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695575"/>
            <a:ext cx="428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A3A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374AA7-503A-43F0-906A-A65612DD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0750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2161B"/>
          </a:solidFill>
          <a:ln xmlns:a="http://schemas.openxmlformats.org/drawingml/2006/main" w="14288">
            <a:solidFill>
              <a:srgbClr val="2B303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49E02F-69E4-400A-A9F2-3EF6B068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333625"/>
            <a:ext cx="142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AST map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9C0FDE-D68D-4776-B1FC-3A075840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95575"/>
            <a:ext cx="428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A3AD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EC864F-6EE6-4224-90BB-6BAAED31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190750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2161B"/>
          </a:solidFill>
          <a:ln xmlns:a="http://schemas.openxmlformats.org/drawingml/2006/main" w="14288">
            <a:solidFill>
              <a:srgbClr val="2B303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9FFF59-DD0C-4F32-BF32-AF92B83C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33625"/>
            <a:ext cx="142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Behavior contract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166E8A-E7CB-4D2F-83A1-459BF46C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695575"/>
            <a:ext cx="428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A3A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562211-0CD2-49FD-9736-2FD66099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90750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2161B"/>
          </a:solidFill>
          <a:ln xmlns:a="http://schemas.openxmlformats.org/drawingml/2006/main" w="14288">
            <a:solidFill>
              <a:srgbClr val="2B303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BC86F0-8A0D-42E3-9574-D9F79A54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333625"/>
            <a:ext cx="142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Candidate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93A063-A602-4583-8FC9-60ADB899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95575"/>
            <a:ext cx="428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A3AD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8D2C0A-CA1F-4395-AC97-1B235F5E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90750"/>
            <a:ext cx="1714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2161B"/>
          </a:solidFill>
          <a:ln xmlns:a="http://schemas.openxmlformats.org/drawingml/2006/main" w="14288">
            <a:solidFill>
              <a:srgbClr val="C7FF4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3EC24C-FEFE-4096-B84A-BBCC0A5CC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333625"/>
            <a:ext cx="142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rPr>
              <a:t>Evidence pack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11D90F-0061-46EE-8046-F699DDC8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00500"/>
            <a:ext cx="5000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Static analysis never imports repository code.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7D6FBF-1A6D-400D-9BAB-11F6B5D3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54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Hosted execution stays inside three audited variants.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622501-F6CB-4699-B761-4E7D6CEB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62500"/>
            <a:ext cx="1019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425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rPr>
              <a:t>Output: source hash, changed files, intended delta, preserved behavior, risks, checklist, rollback notes, and raw results.</a:t>
            </a:r>
          </a:p>
        </p:txBody>
      </p:sp>
    </p:spTree>
    <p:extLst>
      <p:ext uri="{BB962C8B-B14F-4D97-AF65-F5344CB8AC3E}">
        <p14:creationId xmlns:p14="http://schemas.microsoft.com/office/powerpoint/2010/main" val="128758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D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6D498B-D7F7-487B-B302-55B2C129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rPr>
              <a:t>SHADOWSPEC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56CD57-DF75-414C-86F5-D7B06D57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38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Bob as the maintenance team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A037C5-0002-4DD7-BE1A-9C150424F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038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039816-8D2E-4E6D-B04E-21AB1448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333F1F-145A-4F6F-85BA-7463E0F80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57375"/>
            <a:ext cx="161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2161B"/>
          </a:solidFill>
          <a:ln xmlns:a="http://schemas.openxmlformats.org/drawingml/2006/main" w="14288">
            <a:solidFill>
              <a:srgbClr val="2B303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42DA8F-87C7-44EE-8E8A-D2DB816C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28825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Mapper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E0974A-88E5-4E87-A64A-5C8CC720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266950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A3A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6C98FF-5F4B-4FD7-AD58-F6F4307D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857375"/>
            <a:ext cx="161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2161B"/>
          </a:solidFill>
          <a:ln xmlns:a="http://schemas.openxmlformats.org/drawingml/2006/main" w="14288">
            <a:solidFill>
              <a:srgbClr val="2B303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E33ADB-1219-4118-BD0D-4E288E0D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028825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Characterization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C085BF-597A-4159-ACAE-EF7962DC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266950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A3AD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9B5201-EF33-49A4-9173-CFBF9486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857375"/>
            <a:ext cx="161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2161B"/>
          </a:solidFill>
          <a:ln xmlns:a="http://schemas.openxmlformats.org/drawingml/2006/main" w="14288">
            <a:solidFill>
              <a:srgbClr val="2B303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0E2D6-75A4-451F-A5BF-D9160115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028825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Implementer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1B8F16-E88F-410E-9295-A5453FCF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266950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A3A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2FF767-AD65-4823-B34B-53119C69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857375"/>
            <a:ext cx="161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2161B"/>
          </a:solidFill>
          <a:ln xmlns:a="http://schemas.openxmlformats.org/drawingml/2006/main" w="14288">
            <a:solidFill>
              <a:srgbClr val="FF6B6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3031A4-D1EC-47D9-B779-2C7E5981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28825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6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FF6B6B"/>
                </a:solidFill>
                <a:latin typeface="Bitstream Charter"/>
                <a:ea typeface="Bitstream Charter"/>
                <a:cs typeface="Bitstream Charter"/>
              </a:rPr>
              <a:t>Critic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A3682F-459C-4C4C-A276-1A4E9A14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266950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DA3AD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16E19D-355E-447B-8EA4-621AE201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857375"/>
            <a:ext cx="161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2161B"/>
          </a:solidFill>
          <a:ln xmlns:a="http://schemas.openxmlformats.org/drawingml/2006/main" w="14288">
            <a:solidFill>
              <a:srgbClr val="2B303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116627-6FDC-4B95-8ED0-2AEBD2A2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28825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Release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6A104D-869B-44A4-81CF-F9E618174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813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881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1">
                <a:solidFill>
                  <a:srgbClr val="F4F1E8"/>
                </a:solidFill>
                <a:latin typeface="Bitstream Charter"/>
                <a:ea typeface="Bitstream Charter"/>
                <a:cs typeface="Bitstream Charter"/>
              </a:rPr>
              <a:t>Full-repository context connects the behavior map, tests, patch, criticism, and release evidence.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F218C3-162B-4ACB-BDDF-BF6A6B7F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333875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9DA3AD"/>
                </a:solidFill>
                <a:latin typeface="Bitstream Charter"/>
                <a:ea typeface="Bitstream Charter"/>
                <a:cs typeface="Bitstream Charter"/>
              </a:rPr>
              <a:t>The zero-key public demo is deterministic. Bob session exports remain separate, inspectable artifacts.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8CE395-F1E6-4C48-A1CB-DEB1C255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381625"/>
            <a:ext cx="904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1">
                <a:solidFill>
                  <a:srgbClr val="C7FF4A"/>
                </a:solidFill>
                <a:latin typeface="Bitstream Charter"/>
                <a:ea typeface="Bitstream Charter"/>
                <a:cs typeface="Bitstream Charter"/>
              </a:rPr>
              <a:t>Reject the broad patch. Accept the proof.</a:t>
            </a:r>
          </a:p>
        </p:txBody>
      </p:sp>
    </p:spTree>
    <p:extLst>
      <p:ext uri="{BB962C8B-B14F-4D97-AF65-F5344CB8AC3E}">
        <p14:creationId xmlns:p14="http://schemas.microsoft.com/office/powerpoint/2010/main" val="18080677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2026-09-21T06:39:17.2440000Z</dcterms:created>
  <dcterms:modified xsi:type="dcterms:W3CDTF">2026-09-21T06:39:17.2440000Z</dcterms:modified>
</coreProperties>
</file>